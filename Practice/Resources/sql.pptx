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mbria Bold" charset="1" panose="02040803050406030204"/>
      <p:regular r:id="rId23"/>
    </p:embeddedFont>
    <p:embeddedFont>
      <p:font typeface="Calibri (MS)" charset="1" panose="020F0502020204030204"/>
      <p:regular r:id="rId24"/>
    </p:embeddedFont>
    <p:embeddedFont>
      <p:font typeface="Courier New" charset="1" panose="02070309020205020404"/>
      <p:regular r:id="rId25"/>
    </p:embeddedFont>
    <p:embeddedFont>
      <p:font typeface="Calibri (MS) Bold" charset="1" panose="020F0702030404030204"/>
      <p:regular r:id="rId26"/>
    </p:embeddedFont>
    <p:embeddedFont>
      <p:font typeface="Calibri (MS) Italics" charset="1" panose="020F05020202040A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image" Target="../media/image1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eg"/><Relationship Id="rId3" Type="http://schemas.openxmlformats.org/officeDocument/2006/relationships/image" Target="../media/image21.jpeg"/><Relationship Id="rId4" Type="http://schemas.openxmlformats.org/officeDocument/2006/relationships/image" Target="../media/image2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3" Type="http://schemas.openxmlformats.org/officeDocument/2006/relationships/image" Target="../media/image24.jpeg"/><Relationship Id="rId4" Type="http://schemas.openxmlformats.org/officeDocument/2006/relationships/image" Target="../media/image25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3223260"/>
            <a:ext cx="15773400" cy="1508760"/>
            <a:chOff x="0" y="0"/>
            <a:chExt cx="2103120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565" r="0" b="-15356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216116"/>
            <a:ext cx="15773400" cy="1515904"/>
            <a:chOff x="0" y="0"/>
            <a:chExt cx="21031200" cy="20212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021205"/>
            </a:xfrm>
            <a:custGeom>
              <a:avLst/>
              <a:gdLst/>
              <a:ahLst/>
              <a:cxnLst/>
              <a:rect r="r" b="b" t="t" l="l"/>
              <a:pathLst>
                <a:path h="202120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21205"/>
                  </a:lnTo>
                  <a:lnTo>
                    <a:pt x="0" y="20212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747" r="0" b="-15274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0312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CRUD Operations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4594860"/>
            <a:ext cx="15773400" cy="822960"/>
            <a:chOff x="0" y="0"/>
            <a:chExt cx="210312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203" r="0" b="-32320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4544854"/>
            <a:ext cx="15773400" cy="872966"/>
            <a:chOff x="0" y="0"/>
            <a:chExt cx="21031200" cy="11639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1163955"/>
            </a:xfrm>
            <a:custGeom>
              <a:avLst/>
              <a:gdLst/>
              <a:ahLst/>
              <a:cxnLst/>
              <a:rect r="r" b="b" t="t" l="l"/>
              <a:pathLst>
                <a:path h="116395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163955"/>
                  </a:lnTo>
                  <a:lnTo>
                    <a:pt x="0" y="11639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070" r="0" b="-3020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1031200" cy="1230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2C3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· Read · Update · Delete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5554980"/>
            <a:ext cx="13030200" cy="685800"/>
            <a:chOff x="0" y="0"/>
            <a:chExt cx="173736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958" r="0" b="-31995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5519261"/>
            <a:ext cx="13030200" cy="721519"/>
            <a:chOff x="0" y="0"/>
            <a:chExt cx="17373600" cy="9620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73600" cy="962025"/>
            </a:xfrm>
            <a:custGeom>
              <a:avLst/>
              <a:gdLst/>
              <a:ahLst/>
              <a:cxnLst/>
              <a:rect r="r" b="b" t="t" l="l"/>
              <a:pathLst>
                <a:path h="96202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888" r="0" b="-3018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73736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four fundamental operations every data scientist uses to work with data in SQL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6995160"/>
            <a:ext cx="960120" cy="960120"/>
            <a:chOff x="0" y="0"/>
            <a:chExt cx="128016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6995160"/>
            <a:ext cx="960120" cy="960120"/>
            <a:chOff x="0" y="0"/>
            <a:chExt cx="128016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6980872"/>
            <a:ext cx="960120" cy="974407"/>
            <a:chOff x="0" y="0"/>
            <a:chExt cx="1280160" cy="12992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160" cy="1299210"/>
            </a:xfrm>
            <a:custGeom>
              <a:avLst/>
              <a:gdLst/>
              <a:ahLst/>
              <a:cxnLst/>
              <a:rect r="r" b="b" t="t" l="l"/>
              <a:pathLst>
                <a:path h="129921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212" t="0" r="-8021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28016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4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606040" y="699516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606040" y="6995160"/>
            <a:ext cx="960120" cy="960120"/>
            <a:chOff x="0" y="0"/>
            <a:chExt cx="128016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606040" y="6980872"/>
            <a:ext cx="960120" cy="974407"/>
            <a:chOff x="0" y="0"/>
            <a:chExt cx="1280160" cy="12992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0" cy="1299210"/>
            </a:xfrm>
            <a:custGeom>
              <a:avLst/>
              <a:gdLst/>
              <a:ahLst/>
              <a:cxnLst/>
              <a:rect r="r" b="b" t="t" l="l"/>
              <a:pathLst>
                <a:path h="129921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212" t="0" r="-8021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28016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4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977640" y="6995160"/>
            <a:ext cx="960120" cy="960120"/>
            <a:chOff x="0" y="0"/>
            <a:chExt cx="128016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0A8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977640" y="6995160"/>
            <a:ext cx="960120" cy="960120"/>
            <a:chOff x="0" y="0"/>
            <a:chExt cx="128016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977640" y="6980872"/>
            <a:ext cx="960120" cy="974407"/>
            <a:chOff x="0" y="0"/>
            <a:chExt cx="1280160" cy="12992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0160" cy="1299210"/>
            </a:xfrm>
            <a:custGeom>
              <a:avLst/>
              <a:gdLst/>
              <a:ahLst/>
              <a:cxnLst/>
              <a:rect r="r" b="b" t="t" l="l"/>
              <a:pathLst>
                <a:path h="129921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212" t="0" r="-8021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28016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4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49240" y="6995160"/>
            <a:ext cx="960120" cy="960120"/>
            <a:chOff x="0" y="0"/>
            <a:chExt cx="128016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85D4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349240" y="6995160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349240" y="6980872"/>
            <a:ext cx="960120" cy="974407"/>
            <a:chOff x="0" y="0"/>
            <a:chExt cx="1280160" cy="12992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99210"/>
            </a:xfrm>
            <a:custGeom>
              <a:avLst/>
              <a:gdLst/>
              <a:ahLst/>
              <a:cxnLst/>
              <a:rect r="r" b="b" t="t" l="l"/>
              <a:pathLst>
                <a:path h="129921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212" t="0" r="-8021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28016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24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CCCCC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960120"/>
            <a:chOff x="0" y="0"/>
            <a:chExt cx="182880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163" r="0" b="-2281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10076"/>
            <a:ext cx="13716000" cy="967264"/>
            <a:chOff x="0" y="0"/>
            <a:chExt cx="18288000" cy="12896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289685"/>
            </a:xfrm>
            <a:custGeom>
              <a:avLst/>
              <a:gdLst/>
              <a:ahLst/>
              <a:cxnLst/>
              <a:rect r="r" b="b" t="t" l="l"/>
              <a:pathLst>
                <a:path h="128968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301" r="0" b="-22630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645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is CRUD?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44018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6786" r="0" b="-43678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1404461"/>
            <a:ext cx="13716000" cy="584359"/>
            <a:chOff x="0" y="0"/>
            <a:chExt cx="18288000" cy="7791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779145"/>
            </a:xfrm>
            <a:custGeom>
              <a:avLst/>
              <a:gdLst/>
              <a:ahLst/>
              <a:cxnLst/>
              <a:rect r="r" b="b" t="t" l="l"/>
              <a:pathLst>
                <a:path h="77914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350" r="0" b="-4073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28800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 operations that cover everything you can do to data in a table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400300"/>
            <a:ext cx="16596360" cy="1577340"/>
            <a:chOff x="0" y="0"/>
            <a:chExt cx="22128480" cy="2103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993392"/>
                  </a:lnTo>
                  <a:cubicBezTo>
                    <a:pt x="22128480" y="2053971"/>
                    <a:pt x="22079331" y="2103120"/>
                    <a:pt x="2201875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784348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34440" y="2784348"/>
            <a:ext cx="822960" cy="822960"/>
            <a:chOff x="0" y="0"/>
            <a:chExt cx="109728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440" y="2770060"/>
            <a:ext cx="822960" cy="837248"/>
            <a:chOff x="0" y="0"/>
            <a:chExt cx="1097280" cy="11163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1116330"/>
            </a:xfrm>
            <a:custGeom>
              <a:avLst/>
              <a:gdLst/>
              <a:ahLst/>
              <a:cxnLst/>
              <a:rect r="r" b="b" t="t" l="l"/>
              <a:pathLst>
                <a:path h="111633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531" t="0" r="-8053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00300" y="2564892"/>
            <a:ext cx="3017520" cy="548640"/>
            <a:chOff x="0" y="0"/>
            <a:chExt cx="40233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400300" y="2550604"/>
            <a:ext cx="3017520" cy="562928"/>
            <a:chOff x="0" y="0"/>
            <a:chExt cx="4023360" cy="7505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0" cy="750570"/>
            </a:xfrm>
            <a:custGeom>
              <a:avLst/>
              <a:gdLst/>
              <a:ahLst/>
              <a:cxnLst/>
              <a:rect r="r" b="b" t="t" l="l"/>
              <a:pathLst>
                <a:path h="7505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47" r="0" b="-5444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023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645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Create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00300" y="3154680"/>
            <a:ext cx="5897880" cy="548640"/>
            <a:chOff x="0" y="0"/>
            <a:chExt cx="78638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317" r="0" b="-15931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400300" y="3147536"/>
            <a:ext cx="5897880" cy="555784"/>
            <a:chOff x="0" y="0"/>
            <a:chExt cx="7863840" cy="7410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63840" cy="741045"/>
            </a:xfrm>
            <a:custGeom>
              <a:avLst/>
              <a:gdLst/>
              <a:ahLst/>
              <a:cxnLst/>
              <a:rect r="r" b="b" t="t" l="l"/>
              <a:pathLst>
                <a:path h="741045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71" r="0" b="-15677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863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2C39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CREATE TABLE, INSERT INTO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641080" y="2400300"/>
            <a:ext cx="8503920" cy="1577340"/>
            <a:chOff x="0" y="0"/>
            <a:chExt cx="11338560" cy="2103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38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976" r="0" b="-54977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641080" y="2364581"/>
            <a:ext cx="8503920" cy="1613059"/>
            <a:chOff x="0" y="0"/>
            <a:chExt cx="11338560" cy="215074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38560" cy="2150745"/>
            </a:xfrm>
            <a:custGeom>
              <a:avLst/>
              <a:gdLst/>
              <a:ahLst/>
              <a:cxnLst/>
              <a:rect r="r" b="b" t="t" l="l"/>
              <a:pathLst>
                <a:path h="2150745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150745"/>
                  </a:lnTo>
                  <a:lnTo>
                    <a:pt x="0" y="21507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23" r="0" b="-5272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1338560" cy="2198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table and add new rows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4183380"/>
            <a:ext cx="16596360" cy="1577340"/>
            <a:chOff x="0" y="0"/>
            <a:chExt cx="22128480" cy="2103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993392"/>
                  </a:lnTo>
                  <a:cubicBezTo>
                    <a:pt x="22128480" y="2053971"/>
                    <a:pt x="22079331" y="2103120"/>
                    <a:pt x="2201875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34440" y="4567428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34440" y="4567428"/>
            <a:ext cx="822960" cy="822960"/>
            <a:chOff x="0" y="0"/>
            <a:chExt cx="1097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4440" y="4553140"/>
            <a:ext cx="822960" cy="837248"/>
            <a:chOff x="0" y="0"/>
            <a:chExt cx="1097280" cy="11163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1116330"/>
            </a:xfrm>
            <a:custGeom>
              <a:avLst/>
              <a:gdLst/>
              <a:ahLst/>
              <a:cxnLst/>
              <a:rect r="r" b="b" t="t" l="l"/>
              <a:pathLst>
                <a:path h="111633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531" t="0" r="-8053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400300" y="4347972"/>
            <a:ext cx="3017520" cy="548640"/>
            <a:chOff x="0" y="0"/>
            <a:chExt cx="40233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400300" y="4333684"/>
            <a:ext cx="3017520" cy="562928"/>
            <a:chOff x="0" y="0"/>
            <a:chExt cx="4023360" cy="7505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23360" cy="750570"/>
            </a:xfrm>
            <a:custGeom>
              <a:avLst/>
              <a:gdLst/>
              <a:ahLst/>
              <a:cxnLst/>
              <a:rect r="r" b="b" t="t" l="l"/>
              <a:pathLst>
                <a:path h="7505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47" r="0" b="-5444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023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645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400300" y="4937760"/>
            <a:ext cx="5897880" cy="548640"/>
            <a:chOff x="0" y="0"/>
            <a:chExt cx="786384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317" r="0" b="-15931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400300" y="4930616"/>
            <a:ext cx="5897880" cy="555784"/>
            <a:chOff x="0" y="0"/>
            <a:chExt cx="7863840" cy="7410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863840" cy="741045"/>
            </a:xfrm>
            <a:custGeom>
              <a:avLst/>
              <a:gdLst/>
              <a:ahLst/>
              <a:cxnLst/>
              <a:rect r="r" b="b" t="t" l="l"/>
              <a:pathLst>
                <a:path h="741045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71" r="0" b="-15677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7863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2809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641080" y="4183380"/>
            <a:ext cx="8503920" cy="1577340"/>
            <a:chOff x="0" y="0"/>
            <a:chExt cx="11338560" cy="21031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338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976" r="0" b="-54977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641080" y="4147661"/>
            <a:ext cx="8503920" cy="1613059"/>
            <a:chOff x="0" y="0"/>
            <a:chExt cx="11338560" cy="215074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338560" cy="2150745"/>
            </a:xfrm>
            <a:custGeom>
              <a:avLst/>
              <a:gdLst/>
              <a:ahLst/>
              <a:cxnLst/>
              <a:rect r="r" b="b" t="t" l="l"/>
              <a:pathLst>
                <a:path h="2150745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150745"/>
                  </a:lnTo>
                  <a:lnTo>
                    <a:pt x="0" y="21507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23" r="0" b="-5272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1338560" cy="2198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Query and retrieve existing data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5966460"/>
            <a:ext cx="16596360" cy="1577340"/>
            <a:chOff x="0" y="0"/>
            <a:chExt cx="22128480" cy="2103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993392"/>
                  </a:lnTo>
                  <a:cubicBezTo>
                    <a:pt x="22128480" y="2053971"/>
                    <a:pt x="22079331" y="2103120"/>
                    <a:pt x="2201875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34440" y="6350508"/>
            <a:ext cx="822960" cy="822960"/>
            <a:chOff x="0" y="0"/>
            <a:chExt cx="109728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0A80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34440" y="6350508"/>
            <a:ext cx="822960" cy="822960"/>
            <a:chOff x="0" y="0"/>
            <a:chExt cx="109728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34440" y="6336220"/>
            <a:ext cx="822960" cy="837248"/>
            <a:chOff x="0" y="0"/>
            <a:chExt cx="1097280" cy="11163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1116330"/>
            </a:xfrm>
            <a:custGeom>
              <a:avLst/>
              <a:gdLst/>
              <a:ahLst/>
              <a:cxnLst/>
              <a:rect r="r" b="b" t="t" l="l"/>
              <a:pathLst>
                <a:path h="111633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531" t="0" r="-80531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400300" y="6131052"/>
            <a:ext cx="3017520" cy="548640"/>
            <a:chOff x="0" y="0"/>
            <a:chExt cx="402336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400300" y="6116764"/>
            <a:ext cx="3017520" cy="562928"/>
            <a:chOff x="0" y="0"/>
            <a:chExt cx="4023360" cy="7505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23360" cy="750570"/>
            </a:xfrm>
            <a:custGeom>
              <a:avLst/>
              <a:gdLst/>
              <a:ahLst/>
              <a:cxnLst/>
              <a:rect r="r" b="b" t="t" l="l"/>
              <a:pathLst>
                <a:path h="7505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47" r="0" b="-5444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4023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645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Update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400300" y="6720840"/>
            <a:ext cx="5897880" cy="548640"/>
            <a:chOff x="0" y="0"/>
            <a:chExt cx="786384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317" r="0" b="-159319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2400300" y="6713696"/>
            <a:ext cx="5897880" cy="555784"/>
            <a:chOff x="0" y="0"/>
            <a:chExt cx="7863840" cy="74104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863840" cy="741045"/>
            </a:xfrm>
            <a:custGeom>
              <a:avLst/>
              <a:gdLst/>
              <a:ahLst/>
              <a:cxnLst/>
              <a:rect r="r" b="b" t="t" l="l"/>
              <a:pathLst>
                <a:path h="741045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71" r="0" b="-15677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7863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0A8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UPDATE ... SET ... WHERE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641080" y="5966460"/>
            <a:ext cx="8503920" cy="1577340"/>
            <a:chOff x="0" y="0"/>
            <a:chExt cx="11338560" cy="2103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338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976" r="0" b="-54977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641080" y="5930741"/>
            <a:ext cx="8503920" cy="1613059"/>
            <a:chOff x="0" y="0"/>
            <a:chExt cx="11338560" cy="215074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338560" cy="2150745"/>
            </a:xfrm>
            <a:custGeom>
              <a:avLst/>
              <a:gdLst/>
              <a:ahLst/>
              <a:cxnLst/>
              <a:rect r="r" b="b" t="t" l="l"/>
              <a:pathLst>
                <a:path h="2150745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150745"/>
                  </a:lnTo>
                  <a:lnTo>
                    <a:pt x="0" y="21507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23" r="0" b="-5272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1338560" cy="2198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Modify values in existing rows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22960" y="7749540"/>
            <a:ext cx="16596360" cy="1577340"/>
            <a:chOff x="0" y="0"/>
            <a:chExt cx="22128480" cy="21031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018752" y="0"/>
                  </a:lnTo>
                  <a:cubicBezTo>
                    <a:pt x="22079331" y="0"/>
                    <a:pt x="22128480" y="49149"/>
                    <a:pt x="22128480" y="109728"/>
                  </a:cubicBezTo>
                  <a:lnTo>
                    <a:pt x="22128480" y="1993392"/>
                  </a:lnTo>
                  <a:cubicBezTo>
                    <a:pt x="22128480" y="2053971"/>
                    <a:pt x="22079331" y="2103120"/>
                    <a:pt x="2201875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34440" y="8133588"/>
            <a:ext cx="822960" cy="822960"/>
            <a:chOff x="0" y="0"/>
            <a:chExt cx="1097280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85D4C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34440" y="8133588"/>
            <a:ext cx="822960" cy="822960"/>
            <a:chOff x="0" y="0"/>
            <a:chExt cx="1097280" cy="10972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34440" y="8119300"/>
            <a:ext cx="822960" cy="837248"/>
            <a:chOff x="0" y="0"/>
            <a:chExt cx="1097280" cy="111633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97280" cy="1116330"/>
            </a:xfrm>
            <a:custGeom>
              <a:avLst/>
              <a:gdLst/>
              <a:ahLst/>
              <a:cxnLst/>
              <a:rect r="r" b="b" t="t" l="l"/>
              <a:pathLst>
                <a:path h="111633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531" t="0" r="-80531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2400300" y="7914132"/>
            <a:ext cx="3017520" cy="548640"/>
            <a:chOff x="0" y="0"/>
            <a:chExt cx="4023360" cy="731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2400300" y="7899844"/>
            <a:ext cx="3017520" cy="562928"/>
            <a:chOff x="0" y="0"/>
            <a:chExt cx="4023360" cy="75057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023360" cy="750570"/>
            </a:xfrm>
            <a:custGeom>
              <a:avLst/>
              <a:gdLst/>
              <a:ahLst/>
              <a:cxnLst/>
              <a:rect r="r" b="b" t="t" l="l"/>
              <a:pathLst>
                <a:path h="7505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47" r="0" b="-5444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4023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645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Delete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400300" y="8503920"/>
            <a:ext cx="5897880" cy="548640"/>
            <a:chOff x="0" y="0"/>
            <a:chExt cx="786384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317" r="0" b="-159319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2400300" y="8496776"/>
            <a:ext cx="5897880" cy="555784"/>
            <a:chOff x="0" y="0"/>
            <a:chExt cx="7863840" cy="74104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863840" cy="741045"/>
            </a:xfrm>
            <a:custGeom>
              <a:avLst/>
              <a:gdLst/>
              <a:ahLst/>
              <a:cxnLst/>
              <a:rect r="r" b="b" t="t" l="l"/>
              <a:pathLst>
                <a:path h="741045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71" r="0" b="-15677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7863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5D4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DELETE FROM ... WHERE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641080" y="7749540"/>
            <a:ext cx="8503920" cy="1577340"/>
            <a:chOff x="0" y="0"/>
            <a:chExt cx="11338560" cy="21031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338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976" r="0" b="-54977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8641080" y="7713821"/>
            <a:ext cx="8503920" cy="1613059"/>
            <a:chOff x="0" y="0"/>
            <a:chExt cx="11338560" cy="215074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338560" cy="2150745"/>
            </a:xfrm>
            <a:custGeom>
              <a:avLst/>
              <a:gdLst/>
              <a:ahLst/>
              <a:cxnLst/>
              <a:rect r="r" b="b" t="t" l="l"/>
              <a:pathLst>
                <a:path h="2150745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150745"/>
                  </a:lnTo>
                  <a:lnTo>
                    <a:pt x="0" y="21507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23" r="0" b="-5272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11338560" cy="2198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 rows from a table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85800" y="9778365"/>
            <a:ext cx="10972800" cy="440055"/>
            <a:chOff x="0" y="0"/>
            <a:chExt cx="14630400" cy="5867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630400" cy="586740"/>
            </a:xfrm>
            <a:custGeom>
              <a:avLst/>
              <a:gdLst/>
              <a:ahLst/>
              <a:cxnLst/>
              <a:rect r="r" b="b" t="t" l="l"/>
              <a:pathLst>
                <a:path h="5867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860" r="0" b="-43586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4630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for Data Scientists  ·  CRUD Operations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7282160" y="9806940"/>
            <a:ext cx="685800" cy="411480"/>
            <a:chOff x="0" y="0"/>
            <a:chExt cx="91440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7282160" y="9778365"/>
            <a:ext cx="685800" cy="440055"/>
            <a:chOff x="0" y="0"/>
            <a:chExt cx="914400" cy="5867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754380" cy="754380"/>
            <a:chOff x="0" y="0"/>
            <a:chExt cx="100584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8656"/>
            <a:ext cx="754380" cy="761524"/>
            <a:chOff x="0" y="0"/>
            <a:chExt cx="1005840" cy="1015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" cy="1015365"/>
            </a:xfrm>
            <a:custGeom>
              <a:avLst/>
              <a:gdLst/>
              <a:ahLst/>
              <a:cxnLst/>
              <a:rect r="r" b="b" t="t" l="l"/>
              <a:pathLst>
                <a:path h="1015365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518" t="0" r="-79518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83080" y="658368"/>
            <a:ext cx="14401800" cy="822960"/>
            <a:chOff x="0" y="0"/>
            <a:chExt cx="192024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751" r="0" b="-29075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3080" y="658368"/>
            <a:ext cx="14401800" cy="822960"/>
            <a:chOff x="0" y="0"/>
            <a:chExt cx="192024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9202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645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CREATE — Build the Table &amp; Add Rows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3080" y="1440180"/>
            <a:ext cx="14401800" cy="548640"/>
            <a:chOff x="0" y="0"/>
            <a:chExt cx="192024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126" r="0" b="-46112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83080" y="1404461"/>
            <a:ext cx="14401800" cy="584359"/>
            <a:chOff x="0" y="0"/>
            <a:chExt cx="19202400" cy="7791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02400" cy="779145"/>
            </a:xfrm>
            <a:custGeom>
              <a:avLst/>
              <a:gdLst/>
              <a:ahLst/>
              <a:cxnLst/>
              <a:rect r="r" b="b" t="t" l="l"/>
              <a:pathLst>
                <a:path h="77914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218" r="0" b="-4302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20240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TABLE defines structure. INSERT INTO adds data into it.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06291" y="2177891"/>
            <a:ext cx="10457498" cy="4353878"/>
          </a:xfrm>
          <a:custGeom>
            <a:avLst/>
            <a:gdLst/>
            <a:ahLst/>
            <a:cxnLst/>
            <a:rect r="r" b="b" t="t" l="l"/>
            <a:pathLst>
              <a:path h="4353878" w="10457498">
                <a:moveTo>
                  <a:pt x="0" y="0"/>
                </a:moveTo>
                <a:lnTo>
                  <a:pt x="10457498" y="0"/>
                </a:lnTo>
                <a:lnTo>
                  <a:pt x="10457498" y="4353878"/>
                </a:lnTo>
                <a:lnTo>
                  <a:pt x="0" y="4353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1165860" y="2365248"/>
            <a:ext cx="9738360" cy="3902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DEFDD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customers (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DEFDD"/>
                </a:solidFill>
                <a:latin typeface="Courier New"/>
                <a:ea typeface="Courier New"/>
                <a:cs typeface="Courier New"/>
                <a:sym typeface="Courier New"/>
              </a:rPr>
              <a:t>    customer_id INTEGER PRIMARY KEY,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DEFDD"/>
                </a:solidFill>
                <a:latin typeface="Courier New"/>
                <a:ea typeface="Courier New"/>
                <a:cs typeface="Courier New"/>
                <a:sym typeface="Courier New"/>
              </a:rPr>
              <a:t>    name        TEXT,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DEFDD"/>
                </a:solidFill>
                <a:latin typeface="Courier New"/>
                <a:ea typeface="Courier New"/>
                <a:cs typeface="Courier New"/>
                <a:sym typeface="Courier New"/>
              </a:rPr>
              <a:t>    city        TEXT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DEFDD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  <a:p>
            <a:pPr algn="l">
              <a:lnSpc>
                <a:spcPts val="2690"/>
              </a:lnSpc>
            </a:pP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DEFDD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customers (customer_id, name, city)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DEFDD"/>
                </a:solidFill>
                <a:latin typeface="Courier New"/>
                <a:ea typeface="Courier New"/>
                <a:cs typeface="Courier New"/>
                <a:sym typeface="Courier New"/>
              </a:rPr>
              <a:t>VALUES (1, 'Anita Rai', 'Kathmandu');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590020" y="2194560"/>
            <a:ext cx="5897880" cy="4320540"/>
            <a:chOff x="0" y="0"/>
            <a:chExt cx="7863840" cy="576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63840" cy="5760720"/>
            </a:xfrm>
            <a:custGeom>
              <a:avLst/>
              <a:gdLst/>
              <a:ahLst/>
              <a:cxnLst/>
              <a:rect r="r" b="b" t="t" l="l"/>
              <a:pathLst>
                <a:path h="5760720" w="7863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754112" y="0"/>
                  </a:lnTo>
                  <a:cubicBezTo>
                    <a:pt x="7814691" y="0"/>
                    <a:pt x="7863840" y="49149"/>
                    <a:pt x="7863840" y="109728"/>
                  </a:cubicBezTo>
                  <a:lnTo>
                    <a:pt x="7863840" y="5650992"/>
                  </a:lnTo>
                  <a:cubicBezTo>
                    <a:pt x="7863840" y="5711571"/>
                    <a:pt x="7814691" y="5760720"/>
                    <a:pt x="7754112" y="5760720"/>
                  </a:cubicBezTo>
                  <a:lnTo>
                    <a:pt x="109728" y="5760720"/>
                  </a:lnTo>
                  <a:cubicBezTo>
                    <a:pt x="49149" y="5760720"/>
                    <a:pt x="0" y="5711571"/>
                    <a:pt x="0" y="56509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32920" y="2400300"/>
            <a:ext cx="5212080" cy="480060"/>
            <a:chOff x="0" y="0"/>
            <a:chExt cx="694944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404" r="0" b="-161404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932920" y="2386012"/>
            <a:ext cx="5212080" cy="494347"/>
            <a:chOff x="0" y="0"/>
            <a:chExt cx="6949440" cy="6591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49440" cy="659130"/>
            </a:xfrm>
            <a:custGeom>
              <a:avLst/>
              <a:gdLst/>
              <a:ahLst/>
              <a:cxnLst/>
              <a:rect r="r" b="b" t="t" l="l"/>
              <a:pathLst>
                <a:path h="65913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437" r="0" b="-1554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9494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Points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024360" y="2823210"/>
            <a:ext cx="5097780" cy="350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3645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</a:t>
            </a: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runs once — it defines column names and types.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3645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INSERT INTO </a:t>
            </a: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adds one or many rows.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rows can be added in a single statement, separated by commas.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" y="9778365"/>
            <a:ext cx="10972800" cy="440055"/>
            <a:chOff x="0" y="0"/>
            <a:chExt cx="14630400" cy="5867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0" cy="586740"/>
            </a:xfrm>
            <a:custGeom>
              <a:avLst/>
              <a:gdLst/>
              <a:ahLst/>
              <a:cxnLst/>
              <a:rect r="r" b="b" t="t" l="l"/>
              <a:pathLst>
                <a:path h="5867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860" r="0" b="-43586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4630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for Data Scientists  ·  CRUD Operations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282160" y="9806940"/>
            <a:ext cx="685800" cy="411480"/>
            <a:chOff x="0" y="0"/>
            <a:chExt cx="914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282160" y="9778365"/>
            <a:ext cx="685800" cy="440055"/>
            <a:chOff x="0" y="0"/>
            <a:chExt cx="9144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754380" cy="754380"/>
            <a:chOff x="0" y="0"/>
            <a:chExt cx="100584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8656"/>
            <a:ext cx="754380" cy="761524"/>
            <a:chOff x="0" y="0"/>
            <a:chExt cx="1005840" cy="1015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" cy="1015365"/>
            </a:xfrm>
            <a:custGeom>
              <a:avLst/>
              <a:gdLst/>
              <a:ahLst/>
              <a:cxnLst/>
              <a:rect r="r" b="b" t="t" l="l"/>
              <a:pathLst>
                <a:path h="1015365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518" t="0" r="-79518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83080" y="658368"/>
            <a:ext cx="14401800" cy="822960"/>
            <a:chOff x="0" y="0"/>
            <a:chExt cx="192024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751" r="0" b="-29075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3080" y="658368"/>
            <a:ext cx="14401800" cy="822960"/>
            <a:chOff x="0" y="0"/>
            <a:chExt cx="192024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9202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645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READ — Query the Data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3080" y="1440180"/>
            <a:ext cx="14401800" cy="548640"/>
            <a:chOff x="0" y="0"/>
            <a:chExt cx="192024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126" r="0" b="-46112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83080" y="1404461"/>
            <a:ext cx="14401800" cy="584359"/>
            <a:chOff x="0" y="0"/>
            <a:chExt cx="19202400" cy="7791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02400" cy="779145"/>
            </a:xfrm>
            <a:custGeom>
              <a:avLst/>
              <a:gdLst/>
              <a:ahLst/>
              <a:cxnLst/>
              <a:rect r="r" b="b" t="t" l="l"/>
              <a:pathLst>
                <a:path h="77914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218" r="0" b="-4302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20240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 retrieves rows. Combine with WHERE, ORDER BY, LIMIT to filter and sort.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06291" y="2177891"/>
            <a:ext cx="10457498" cy="4353878"/>
          </a:xfrm>
          <a:custGeom>
            <a:avLst/>
            <a:gdLst/>
            <a:ahLst/>
            <a:cxnLst/>
            <a:rect r="r" b="b" t="t" l="l"/>
            <a:pathLst>
              <a:path h="4353878" w="10457498">
                <a:moveTo>
                  <a:pt x="0" y="0"/>
                </a:moveTo>
                <a:lnTo>
                  <a:pt x="10457498" y="0"/>
                </a:lnTo>
                <a:lnTo>
                  <a:pt x="10457498" y="4353878"/>
                </a:lnTo>
                <a:lnTo>
                  <a:pt x="0" y="4353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1165860" y="2365248"/>
            <a:ext cx="9738360" cy="3902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EE7EE"/>
                </a:solidFill>
                <a:latin typeface="Courier New"/>
                <a:ea typeface="Courier New"/>
                <a:cs typeface="Courier New"/>
                <a:sym typeface="Courier New"/>
              </a:rPr>
              <a:t>-- All rows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EE7EE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customers;</a:t>
            </a:r>
          </a:p>
          <a:p>
            <a:pPr algn="l">
              <a:lnSpc>
                <a:spcPts val="2690"/>
              </a:lnSpc>
            </a:pP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EE7EE"/>
                </a:solidFill>
                <a:latin typeface="Courier New"/>
                <a:ea typeface="Courier New"/>
                <a:cs typeface="Courier New"/>
                <a:sym typeface="Courier New"/>
              </a:rPr>
              <a:t>-- Filtered, sorted, limited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EE7EE"/>
                </a:solidFill>
                <a:latin typeface="Courier New"/>
                <a:ea typeface="Courier New"/>
                <a:cs typeface="Courier New"/>
                <a:sym typeface="Courier New"/>
              </a:rPr>
              <a:t>SELECT name, city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EE7EE"/>
                </a:solidFill>
                <a:latin typeface="Courier New"/>
                <a:ea typeface="Courier New"/>
                <a:cs typeface="Courier New"/>
                <a:sym typeface="Courier New"/>
              </a:rPr>
              <a:t>FROM customers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EE7EE"/>
                </a:solidFill>
                <a:latin typeface="Courier New"/>
                <a:ea typeface="Courier New"/>
                <a:cs typeface="Courier New"/>
                <a:sym typeface="Courier New"/>
              </a:rPr>
              <a:t>WHERE city = 'Kathmandu'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EE7EE"/>
                </a:solidFill>
                <a:latin typeface="Courier New"/>
                <a:ea typeface="Courier New"/>
                <a:cs typeface="Courier New"/>
                <a:sym typeface="Courier New"/>
              </a:rPr>
              <a:t>ORDER BY name ASC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BEE7EE"/>
                </a:solidFill>
                <a:latin typeface="Courier New"/>
                <a:ea typeface="Courier New"/>
                <a:cs typeface="Courier New"/>
                <a:sym typeface="Courier New"/>
              </a:rPr>
              <a:t>LIMIT 5;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590020" y="2194560"/>
            <a:ext cx="5897880" cy="4320540"/>
            <a:chOff x="0" y="0"/>
            <a:chExt cx="7863840" cy="576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63840" cy="5760720"/>
            </a:xfrm>
            <a:custGeom>
              <a:avLst/>
              <a:gdLst/>
              <a:ahLst/>
              <a:cxnLst/>
              <a:rect r="r" b="b" t="t" l="l"/>
              <a:pathLst>
                <a:path h="5760720" w="7863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754112" y="0"/>
                  </a:lnTo>
                  <a:cubicBezTo>
                    <a:pt x="7814691" y="0"/>
                    <a:pt x="7863840" y="49149"/>
                    <a:pt x="7863840" y="109728"/>
                  </a:cubicBezTo>
                  <a:lnTo>
                    <a:pt x="7863840" y="5650992"/>
                  </a:lnTo>
                  <a:cubicBezTo>
                    <a:pt x="7863840" y="5711571"/>
                    <a:pt x="7814691" y="5760720"/>
                    <a:pt x="7754112" y="5760720"/>
                  </a:cubicBezTo>
                  <a:lnTo>
                    <a:pt x="109728" y="5760720"/>
                  </a:lnTo>
                  <a:cubicBezTo>
                    <a:pt x="49149" y="5760720"/>
                    <a:pt x="0" y="5711571"/>
                    <a:pt x="0" y="56509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32920" y="2400300"/>
            <a:ext cx="5212080" cy="480060"/>
            <a:chOff x="0" y="0"/>
            <a:chExt cx="694944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404" r="0" b="-161404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932920" y="2386012"/>
            <a:ext cx="5212080" cy="494347"/>
            <a:chOff x="0" y="0"/>
            <a:chExt cx="6949440" cy="6591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49440" cy="659130"/>
            </a:xfrm>
            <a:custGeom>
              <a:avLst/>
              <a:gdLst/>
              <a:ahLst/>
              <a:cxnLst/>
              <a:rect r="r" b="b" t="t" l="l"/>
              <a:pathLst>
                <a:path h="65913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437" r="0" b="-1554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9494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2809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Points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024360" y="2823210"/>
            <a:ext cx="5097780" cy="350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3645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WHERE </a:t>
            </a: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filters which rows come back.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3645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ORDER BY </a:t>
            </a: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sorts the results (ASC / DESC).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3645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 </a:t>
            </a: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caps how many rows are returned.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This is the operation data scientists use most.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" y="9778365"/>
            <a:ext cx="10972800" cy="440055"/>
            <a:chOff x="0" y="0"/>
            <a:chExt cx="14630400" cy="5867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0" cy="586740"/>
            </a:xfrm>
            <a:custGeom>
              <a:avLst/>
              <a:gdLst/>
              <a:ahLst/>
              <a:cxnLst/>
              <a:rect r="r" b="b" t="t" l="l"/>
              <a:pathLst>
                <a:path h="5867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860" r="0" b="-43586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4630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for Data Scientists  ·  CRUD Operations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282160" y="9806940"/>
            <a:ext cx="685800" cy="411480"/>
            <a:chOff x="0" y="0"/>
            <a:chExt cx="914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282160" y="9778365"/>
            <a:ext cx="685800" cy="440055"/>
            <a:chOff x="0" y="0"/>
            <a:chExt cx="9144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0A8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754380" cy="754380"/>
            <a:chOff x="0" y="0"/>
            <a:chExt cx="100584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8656"/>
            <a:ext cx="754380" cy="761524"/>
            <a:chOff x="0" y="0"/>
            <a:chExt cx="1005840" cy="1015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" cy="1015365"/>
            </a:xfrm>
            <a:custGeom>
              <a:avLst/>
              <a:gdLst/>
              <a:ahLst/>
              <a:cxnLst/>
              <a:rect r="r" b="b" t="t" l="l"/>
              <a:pathLst>
                <a:path h="1015365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518" t="0" r="-79518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83080" y="658368"/>
            <a:ext cx="14401800" cy="822960"/>
            <a:chOff x="0" y="0"/>
            <a:chExt cx="192024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751" r="0" b="-29075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3080" y="658368"/>
            <a:ext cx="14401800" cy="822960"/>
            <a:chOff x="0" y="0"/>
            <a:chExt cx="192024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9202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645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UPDATE — Modify Existing Rows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3080" y="1440180"/>
            <a:ext cx="14401800" cy="548640"/>
            <a:chOff x="0" y="0"/>
            <a:chExt cx="192024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126" r="0" b="-46112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83080" y="1404461"/>
            <a:ext cx="14401800" cy="584359"/>
            <a:chOff x="0" y="0"/>
            <a:chExt cx="19202400" cy="7791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02400" cy="779145"/>
            </a:xfrm>
            <a:custGeom>
              <a:avLst/>
              <a:gdLst/>
              <a:ahLst/>
              <a:cxnLst/>
              <a:rect r="r" b="b" t="t" l="l"/>
              <a:pathLst>
                <a:path h="77914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218" r="0" b="-4302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20240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Changes values in rows that already exist.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06291" y="2177891"/>
            <a:ext cx="10457498" cy="2090738"/>
          </a:xfrm>
          <a:custGeom>
            <a:avLst/>
            <a:gdLst/>
            <a:ahLst/>
            <a:cxnLst/>
            <a:rect r="r" b="b" t="t" l="l"/>
            <a:pathLst>
              <a:path h="2090738" w="10457498">
                <a:moveTo>
                  <a:pt x="0" y="0"/>
                </a:moveTo>
                <a:lnTo>
                  <a:pt x="10457498" y="0"/>
                </a:lnTo>
                <a:lnTo>
                  <a:pt x="10457498" y="2090738"/>
                </a:lnTo>
                <a:lnTo>
                  <a:pt x="0" y="2090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1165860" y="2365248"/>
            <a:ext cx="9738360" cy="1639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F3DFA8"/>
                </a:solidFill>
                <a:latin typeface="Courier New"/>
                <a:ea typeface="Courier New"/>
                <a:cs typeface="Courier New"/>
                <a:sym typeface="Courier New"/>
              </a:rPr>
              <a:t>UPDATE customers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F3DFA8"/>
                </a:solidFill>
                <a:latin typeface="Courier New"/>
                <a:ea typeface="Courier New"/>
                <a:cs typeface="Courier New"/>
                <a:sym typeface="Courier New"/>
              </a:rPr>
              <a:t>SET city = 'Bhaktapur'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F3DFA8"/>
                </a:solidFill>
                <a:latin typeface="Courier New"/>
                <a:ea typeface="Courier New"/>
                <a:cs typeface="Courier New"/>
                <a:sym typeface="Courier New"/>
              </a:rPr>
              <a:t>WHERE customer_id = 1;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06291" y="4509611"/>
            <a:ext cx="10457498" cy="2022158"/>
          </a:xfrm>
          <a:custGeom>
            <a:avLst/>
            <a:gdLst/>
            <a:ahLst/>
            <a:cxnLst/>
            <a:rect r="r" b="b" t="t" l="l"/>
            <a:pathLst>
              <a:path h="2022158" w="10457498">
                <a:moveTo>
                  <a:pt x="0" y="0"/>
                </a:moveTo>
                <a:lnTo>
                  <a:pt x="10457498" y="0"/>
                </a:lnTo>
                <a:lnTo>
                  <a:pt x="10457498" y="2022158"/>
                </a:lnTo>
                <a:lnTo>
                  <a:pt x="0" y="2022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165860" y="4690872"/>
            <a:ext cx="9738360" cy="480060"/>
            <a:chOff x="0" y="0"/>
            <a:chExt cx="1298448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9844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992" r="0" b="-34499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4662297"/>
            <a:ext cx="9738360" cy="508635"/>
            <a:chOff x="0" y="0"/>
            <a:chExt cx="12984480" cy="6781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984480" cy="678180"/>
            </a:xfrm>
            <a:custGeom>
              <a:avLst/>
              <a:gdLst/>
              <a:ahLst/>
              <a:cxnLst/>
              <a:rect r="r" b="b" t="t" l="l"/>
              <a:pathLst>
                <a:path h="67818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061" r="0" b="-32306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984480" cy="716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9C2B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Without WHERE, EVERY row is updated: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5860" y="5184648"/>
            <a:ext cx="9738360" cy="1097280"/>
            <a:chOff x="0" y="0"/>
            <a:chExt cx="1298448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84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809" r="0" b="-12280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5177504"/>
            <a:ext cx="9738360" cy="1104424"/>
            <a:chOff x="0" y="0"/>
            <a:chExt cx="12984480" cy="14725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984480" cy="1472565"/>
            </a:xfrm>
            <a:custGeom>
              <a:avLst/>
              <a:gdLst/>
              <a:ahLst/>
              <a:cxnLst/>
              <a:rect r="r" b="b" t="t" l="l"/>
              <a:pathLst>
                <a:path h="1472565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811" r="0" b="-1218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29844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C2B2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UPDATE customers SET city = 'Unknown';   -- updates ALL rows!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590020" y="2194560"/>
            <a:ext cx="5897880" cy="4320540"/>
            <a:chOff x="0" y="0"/>
            <a:chExt cx="7863840" cy="576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63840" cy="5760720"/>
            </a:xfrm>
            <a:custGeom>
              <a:avLst/>
              <a:gdLst/>
              <a:ahLst/>
              <a:cxnLst/>
              <a:rect r="r" b="b" t="t" l="l"/>
              <a:pathLst>
                <a:path h="5760720" w="7863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754112" y="0"/>
                  </a:lnTo>
                  <a:cubicBezTo>
                    <a:pt x="7814691" y="0"/>
                    <a:pt x="7863840" y="49149"/>
                    <a:pt x="7863840" y="109728"/>
                  </a:cubicBezTo>
                  <a:lnTo>
                    <a:pt x="7863840" y="5650992"/>
                  </a:lnTo>
                  <a:cubicBezTo>
                    <a:pt x="7863840" y="5711571"/>
                    <a:pt x="7814691" y="5760720"/>
                    <a:pt x="7754112" y="5760720"/>
                  </a:cubicBezTo>
                  <a:lnTo>
                    <a:pt x="109728" y="5760720"/>
                  </a:lnTo>
                  <a:cubicBezTo>
                    <a:pt x="49149" y="5760720"/>
                    <a:pt x="0" y="5711571"/>
                    <a:pt x="0" y="56509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932920" y="2400300"/>
            <a:ext cx="5212080" cy="480060"/>
            <a:chOff x="0" y="0"/>
            <a:chExt cx="694944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404" r="0" b="-161404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932920" y="2386012"/>
            <a:ext cx="5212080" cy="494347"/>
            <a:chOff x="0" y="0"/>
            <a:chExt cx="6949440" cy="6591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49440" cy="659130"/>
            </a:xfrm>
            <a:custGeom>
              <a:avLst/>
              <a:gdLst/>
              <a:ahLst/>
              <a:cxnLst/>
              <a:rect r="r" b="b" t="t" l="l"/>
              <a:pathLst>
                <a:path h="65913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437" r="0" b="-1554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9494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0A8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Points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024360" y="2823210"/>
            <a:ext cx="5097780" cy="350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3645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 </a:t>
            </a: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specifies the new value(s).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3645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WHERE </a:t>
            </a: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chooses which rows change.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9C2B2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Always run a SELECT with the same WHERE first, to preview which rows will be affected.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85800" y="9778365"/>
            <a:ext cx="10972800" cy="440055"/>
            <a:chOff x="0" y="0"/>
            <a:chExt cx="14630400" cy="5867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00" cy="586740"/>
            </a:xfrm>
            <a:custGeom>
              <a:avLst/>
              <a:gdLst/>
              <a:ahLst/>
              <a:cxnLst/>
              <a:rect r="r" b="b" t="t" l="l"/>
              <a:pathLst>
                <a:path h="5867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860" r="0" b="-4358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4630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for Data Scientists  ·  CRUD Operations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282160" y="9806940"/>
            <a:ext cx="685800" cy="411480"/>
            <a:chOff x="0" y="0"/>
            <a:chExt cx="9144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7282160" y="9778365"/>
            <a:ext cx="685800" cy="440055"/>
            <a:chOff x="0" y="0"/>
            <a:chExt cx="914400" cy="5867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85D4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754380" cy="754380"/>
            <a:chOff x="0" y="0"/>
            <a:chExt cx="100584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78656"/>
            <a:ext cx="754380" cy="761524"/>
            <a:chOff x="0" y="0"/>
            <a:chExt cx="1005840" cy="1015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" cy="1015365"/>
            </a:xfrm>
            <a:custGeom>
              <a:avLst/>
              <a:gdLst/>
              <a:ahLst/>
              <a:cxnLst/>
              <a:rect r="r" b="b" t="t" l="l"/>
              <a:pathLst>
                <a:path h="1015365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518" t="0" r="-79518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83080" y="658368"/>
            <a:ext cx="14401800" cy="822960"/>
            <a:chOff x="0" y="0"/>
            <a:chExt cx="192024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751" r="0" b="-29075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3080" y="658368"/>
            <a:ext cx="14401800" cy="822960"/>
            <a:chOff x="0" y="0"/>
            <a:chExt cx="192024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9202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645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DELETE — Remove Rows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3080" y="1440180"/>
            <a:ext cx="14401800" cy="548640"/>
            <a:chOff x="0" y="0"/>
            <a:chExt cx="192024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126" r="0" b="-46112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83080" y="1404461"/>
            <a:ext cx="14401800" cy="584359"/>
            <a:chOff x="0" y="0"/>
            <a:chExt cx="19202400" cy="7791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02400" cy="779145"/>
            </a:xfrm>
            <a:custGeom>
              <a:avLst/>
              <a:gdLst/>
              <a:ahLst/>
              <a:cxnLst/>
              <a:rect r="r" b="b" t="t" l="l"/>
              <a:pathLst>
                <a:path h="77914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218" r="0" b="-4302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20240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Permanently removes rows from a table.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06291" y="2177891"/>
            <a:ext cx="10457498" cy="1816417"/>
          </a:xfrm>
          <a:custGeom>
            <a:avLst/>
            <a:gdLst/>
            <a:ahLst/>
            <a:cxnLst/>
            <a:rect r="r" b="b" t="t" l="l"/>
            <a:pathLst>
              <a:path h="1816417" w="10457498">
                <a:moveTo>
                  <a:pt x="0" y="0"/>
                </a:moveTo>
                <a:lnTo>
                  <a:pt x="10457498" y="0"/>
                </a:lnTo>
                <a:lnTo>
                  <a:pt x="10457498" y="1816418"/>
                </a:lnTo>
                <a:lnTo>
                  <a:pt x="0" y="181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1165860" y="2365248"/>
            <a:ext cx="9738360" cy="1365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F5C6BE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customers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F5C6BE"/>
                </a:solidFill>
                <a:latin typeface="Courier New"/>
                <a:ea typeface="Courier New"/>
                <a:cs typeface="Courier New"/>
                <a:sym typeface="Courier New"/>
              </a:rPr>
              <a:t>WHERE customer_id = 3;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06291" y="4235291"/>
            <a:ext cx="10457498" cy="2296478"/>
          </a:xfrm>
          <a:custGeom>
            <a:avLst/>
            <a:gdLst/>
            <a:ahLst/>
            <a:cxnLst/>
            <a:rect r="r" b="b" t="t" l="l"/>
            <a:pathLst>
              <a:path h="2296478" w="10457498">
                <a:moveTo>
                  <a:pt x="0" y="0"/>
                </a:moveTo>
                <a:lnTo>
                  <a:pt x="10457498" y="0"/>
                </a:lnTo>
                <a:lnTo>
                  <a:pt x="10457498" y="2296478"/>
                </a:lnTo>
                <a:lnTo>
                  <a:pt x="0" y="229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165860" y="4416552"/>
            <a:ext cx="9738360" cy="480060"/>
            <a:chOff x="0" y="0"/>
            <a:chExt cx="1298448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9844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992" r="0" b="-34499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4387977"/>
            <a:ext cx="9738360" cy="508635"/>
            <a:chOff x="0" y="0"/>
            <a:chExt cx="12984480" cy="6781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984480" cy="678180"/>
            </a:xfrm>
            <a:custGeom>
              <a:avLst/>
              <a:gdLst/>
              <a:ahLst/>
              <a:cxnLst/>
              <a:rect r="r" b="b" t="t" l="l"/>
              <a:pathLst>
                <a:path h="67818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061" r="0" b="-32306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984480" cy="716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9C2B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Same rule as UPDATE: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5860" y="4910328"/>
            <a:ext cx="9738360" cy="548640"/>
            <a:chOff x="0" y="0"/>
            <a:chExt cx="1298448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8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5618" r="0" b="-29561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903184"/>
            <a:ext cx="9738360" cy="555784"/>
            <a:chOff x="0" y="0"/>
            <a:chExt cx="12984480" cy="7410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984480" cy="741045"/>
            </a:xfrm>
            <a:custGeom>
              <a:avLst/>
              <a:gdLst/>
              <a:ahLst/>
              <a:cxnLst/>
              <a:rect r="r" b="b" t="t" l="l"/>
              <a:pathLst>
                <a:path h="741045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413" r="0" b="-29141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2984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C2B2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DELETE FROM customers;   -- deletes ALL rows in the table!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5486400"/>
            <a:ext cx="9738360" cy="822960"/>
            <a:chOff x="0" y="0"/>
            <a:chExt cx="129844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98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412" r="0" b="-18041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5457825"/>
            <a:ext cx="9738360" cy="851535"/>
            <a:chOff x="0" y="0"/>
            <a:chExt cx="12984480" cy="11353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9844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835" r="0" b="-17283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98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C2B2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WHERE = every row is gone. There is no "undo" once committed.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590020" y="2194560"/>
            <a:ext cx="5897880" cy="4320540"/>
            <a:chOff x="0" y="0"/>
            <a:chExt cx="7863840" cy="5760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63840" cy="5760720"/>
            </a:xfrm>
            <a:custGeom>
              <a:avLst/>
              <a:gdLst/>
              <a:ahLst/>
              <a:cxnLst/>
              <a:rect r="r" b="b" t="t" l="l"/>
              <a:pathLst>
                <a:path h="5760720" w="7863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754112" y="0"/>
                  </a:lnTo>
                  <a:cubicBezTo>
                    <a:pt x="7814691" y="0"/>
                    <a:pt x="7863840" y="49149"/>
                    <a:pt x="7863840" y="109728"/>
                  </a:cubicBezTo>
                  <a:lnTo>
                    <a:pt x="7863840" y="5650992"/>
                  </a:lnTo>
                  <a:cubicBezTo>
                    <a:pt x="7863840" y="5711571"/>
                    <a:pt x="7814691" y="5760720"/>
                    <a:pt x="7754112" y="5760720"/>
                  </a:cubicBezTo>
                  <a:lnTo>
                    <a:pt x="109728" y="5760720"/>
                  </a:lnTo>
                  <a:cubicBezTo>
                    <a:pt x="49149" y="5760720"/>
                    <a:pt x="0" y="5711571"/>
                    <a:pt x="0" y="56509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932920" y="2400300"/>
            <a:ext cx="5212080" cy="480060"/>
            <a:chOff x="0" y="0"/>
            <a:chExt cx="6949440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404" r="0" b="-161404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932920" y="2386012"/>
            <a:ext cx="5212080" cy="494347"/>
            <a:chOff x="0" y="0"/>
            <a:chExt cx="6949440" cy="6591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49440" cy="659130"/>
            </a:xfrm>
            <a:custGeom>
              <a:avLst/>
              <a:gdLst/>
              <a:ahLst/>
              <a:cxnLst/>
              <a:rect r="r" b="b" t="t" l="l"/>
              <a:pathLst>
                <a:path h="65913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437" r="0" b="-1554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9494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85D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Points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024360" y="2823210"/>
            <a:ext cx="5097780" cy="350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3645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DELETE FROM </a:t>
            </a: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removes entire rows (not columns).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The table structure stays — only the data disappears.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8A97A0"/>
                </a:solidFill>
                <a:latin typeface="Calibri (MS)"/>
                <a:ea typeface="Calibri (MS)"/>
                <a:cs typeface="Calibri (MS)"/>
                <a:sym typeface="Calibri (MS)"/>
              </a:rPr>
              <a:t>In real systems, this is often "soft deleted" (a flag) instead of a hard DELETE.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85800" y="9778365"/>
            <a:ext cx="10972800" cy="440055"/>
            <a:chOff x="0" y="0"/>
            <a:chExt cx="14630400" cy="5867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0" cy="586740"/>
            </a:xfrm>
            <a:custGeom>
              <a:avLst/>
              <a:gdLst/>
              <a:ahLst/>
              <a:cxnLst/>
              <a:rect r="r" b="b" t="t" l="l"/>
              <a:pathLst>
                <a:path h="5867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860" r="0" b="-4358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4630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for Data Scientists  ·  CRUD Operations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282160" y="9806940"/>
            <a:ext cx="685800" cy="411480"/>
            <a:chOff x="0" y="0"/>
            <a:chExt cx="9144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7282160" y="9778365"/>
            <a:ext cx="685800" cy="440055"/>
            <a:chOff x="0" y="0"/>
            <a:chExt cx="914400" cy="586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13716000" cy="960120"/>
            <a:chOff x="0" y="0"/>
            <a:chExt cx="182880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163" r="0" b="-2281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747236"/>
            <a:ext cx="13716000" cy="967264"/>
            <a:chOff x="0" y="0"/>
            <a:chExt cx="18288000" cy="12896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289685"/>
            </a:xfrm>
            <a:custGeom>
              <a:avLst/>
              <a:gdLst/>
              <a:ahLst/>
              <a:cxnLst/>
              <a:rect r="r" b="b" t="t" l="l"/>
              <a:pathLst>
                <a:path h="128968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301" r="0" b="-22630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Summary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2125980"/>
            <a:ext cx="3703320" cy="4937760"/>
            <a:chOff x="0" y="0"/>
            <a:chExt cx="4937760" cy="65836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377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4937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91456" y="0"/>
                  </a:lnTo>
                  <a:cubicBezTo>
                    <a:pt x="4872228" y="0"/>
                    <a:pt x="4937760" y="65532"/>
                    <a:pt x="4937760" y="146304"/>
                  </a:cubicBezTo>
                  <a:lnTo>
                    <a:pt x="4937760" y="6437376"/>
                  </a:lnTo>
                  <a:cubicBezTo>
                    <a:pt x="4937760" y="6518148"/>
                    <a:pt x="4872228" y="6583680"/>
                    <a:pt x="4791456" y="6583680"/>
                  </a:cubicBezTo>
                  <a:lnTo>
                    <a:pt x="146304" y="6583680"/>
                  </a:lnTo>
                  <a:cubicBezTo>
                    <a:pt x="65532" y="6583680"/>
                    <a:pt x="0" y="6518148"/>
                    <a:pt x="0" y="6437376"/>
                  </a:cubicBezTo>
                  <a:close/>
                </a:path>
              </a:pathLst>
            </a:custGeom>
            <a:solidFill>
              <a:srgbClr val="222C3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125980"/>
            <a:ext cx="3703320" cy="754380"/>
            <a:chOff x="0" y="0"/>
            <a:chExt cx="4937760" cy="1005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91456" y="0"/>
                  </a:lnTo>
                  <a:cubicBezTo>
                    <a:pt x="4872228" y="0"/>
                    <a:pt x="4937760" y="65532"/>
                    <a:pt x="4937760" y="146304"/>
                  </a:cubicBezTo>
                  <a:lnTo>
                    <a:pt x="4937760" y="859536"/>
                  </a:lnTo>
                  <a:cubicBezTo>
                    <a:pt x="4937760" y="940308"/>
                    <a:pt x="4872228" y="1005840"/>
                    <a:pt x="479145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2125980"/>
            <a:ext cx="3703320" cy="754380"/>
            <a:chOff x="0" y="0"/>
            <a:chExt cx="493776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87" r="0" b="-4558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2118836"/>
            <a:ext cx="3703320" cy="761524"/>
            <a:chOff x="0" y="0"/>
            <a:chExt cx="4937760" cy="10153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37760" cy="1015365"/>
            </a:xfrm>
            <a:custGeom>
              <a:avLst/>
              <a:gdLst/>
              <a:ahLst/>
              <a:cxnLst/>
              <a:rect r="r" b="b" t="t" l="l"/>
              <a:pathLst>
                <a:path h="101536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56" r="0" b="-4475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9377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24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Create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08760" y="3223260"/>
            <a:ext cx="3154680" cy="411480"/>
            <a:chOff x="0" y="0"/>
            <a:chExt cx="420624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2" r="0" b="-9928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08760" y="3208972"/>
            <a:ext cx="3154680" cy="425768"/>
            <a:chOff x="0" y="0"/>
            <a:chExt cx="4206240" cy="5676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06240" cy="567690"/>
            </a:xfrm>
            <a:custGeom>
              <a:avLst/>
              <a:gdLst/>
              <a:ahLst/>
              <a:cxnLst/>
              <a:rect r="r" b="b" t="t" l="l"/>
              <a:pathLst>
                <a:path h="56769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72" r="0" b="-9437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08760" y="3634740"/>
            <a:ext cx="3154680" cy="1234440"/>
            <a:chOff x="0" y="0"/>
            <a:chExt cx="420624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0" t="0" r="-24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08760" y="3634740"/>
            <a:ext cx="3154680" cy="1234440"/>
            <a:chOff x="0" y="0"/>
            <a:chExt cx="4206240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" t="0" r="-205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20624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>
                  <a:solidFill>
                    <a:srgbClr val="F2F2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CREATE TABLE / INSERT INTO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08760" y="5006340"/>
            <a:ext cx="3154680" cy="411480"/>
            <a:chOff x="0" y="0"/>
            <a:chExt cx="420624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2" r="0" b="-9928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08760" y="4992053"/>
            <a:ext cx="3154680" cy="425768"/>
            <a:chOff x="0" y="0"/>
            <a:chExt cx="4206240" cy="5676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06240" cy="567690"/>
            </a:xfrm>
            <a:custGeom>
              <a:avLst/>
              <a:gdLst/>
              <a:ahLst/>
              <a:cxnLst/>
              <a:rect r="r" b="b" t="t" l="l"/>
              <a:pathLst>
                <a:path h="56769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72" r="0" b="-943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Danger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08760" y="5417820"/>
            <a:ext cx="3154680" cy="1371600"/>
            <a:chOff x="0" y="0"/>
            <a:chExt cx="420624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06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23" t="0" r="-5822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08760" y="5396389"/>
            <a:ext cx="3154680" cy="1393031"/>
            <a:chOff x="0" y="0"/>
            <a:chExt cx="4206240" cy="18573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06240" cy="1857375"/>
            </a:xfrm>
            <a:custGeom>
              <a:avLst/>
              <a:gdLst/>
              <a:ahLst/>
              <a:cxnLst/>
              <a:rect r="r" b="b" t="t" l="l"/>
              <a:pathLst>
                <a:path h="1857375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57375"/>
                  </a:lnTo>
                  <a:lnTo>
                    <a:pt x="0" y="18573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55" t="0" r="-665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42062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Duplicate primary keys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280660" y="2125980"/>
            <a:ext cx="3703320" cy="4937760"/>
            <a:chOff x="0" y="0"/>
            <a:chExt cx="4937760" cy="6583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377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4937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91456" y="0"/>
                  </a:lnTo>
                  <a:cubicBezTo>
                    <a:pt x="4872228" y="0"/>
                    <a:pt x="4937760" y="65532"/>
                    <a:pt x="4937760" y="146304"/>
                  </a:cubicBezTo>
                  <a:lnTo>
                    <a:pt x="4937760" y="6437376"/>
                  </a:lnTo>
                  <a:cubicBezTo>
                    <a:pt x="4937760" y="6518148"/>
                    <a:pt x="4872228" y="6583680"/>
                    <a:pt x="4791456" y="6583680"/>
                  </a:cubicBezTo>
                  <a:lnTo>
                    <a:pt x="146304" y="6583680"/>
                  </a:lnTo>
                  <a:cubicBezTo>
                    <a:pt x="65532" y="6583680"/>
                    <a:pt x="0" y="6518148"/>
                    <a:pt x="0" y="6437376"/>
                  </a:cubicBezTo>
                  <a:close/>
                </a:path>
              </a:pathLst>
            </a:custGeom>
            <a:solidFill>
              <a:srgbClr val="222C3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280660" y="2125980"/>
            <a:ext cx="3703320" cy="754380"/>
            <a:chOff x="0" y="0"/>
            <a:chExt cx="493776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91456" y="0"/>
                  </a:lnTo>
                  <a:cubicBezTo>
                    <a:pt x="4872228" y="0"/>
                    <a:pt x="4937760" y="65532"/>
                    <a:pt x="4937760" y="146304"/>
                  </a:cubicBezTo>
                  <a:lnTo>
                    <a:pt x="4937760" y="859536"/>
                  </a:lnTo>
                  <a:cubicBezTo>
                    <a:pt x="4937760" y="940308"/>
                    <a:pt x="4872228" y="1005840"/>
                    <a:pt x="479145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280660" y="2125980"/>
            <a:ext cx="3703320" cy="754380"/>
            <a:chOff x="0" y="0"/>
            <a:chExt cx="493776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87" r="0" b="-4558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280660" y="2118836"/>
            <a:ext cx="3703320" cy="761524"/>
            <a:chOff x="0" y="0"/>
            <a:chExt cx="4937760" cy="10153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37760" cy="1015365"/>
            </a:xfrm>
            <a:custGeom>
              <a:avLst/>
              <a:gdLst/>
              <a:ahLst/>
              <a:cxnLst/>
              <a:rect r="r" b="b" t="t" l="l"/>
              <a:pathLst>
                <a:path h="101536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56" r="0" b="-4475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9377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24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554980" y="3223260"/>
            <a:ext cx="3154680" cy="411480"/>
            <a:chOff x="0" y="0"/>
            <a:chExt cx="420624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2" r="0" b="-9928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554980" y="3208972"/>
            <a:ext cx="3154680" cy="425768"/>
            <a:chOff x="0" y="0"/>
            <a:chExt cx="4206240" cy="5676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06240" cy="567690"/>
            </a:xfrm>
            <a:custGeom>
              <a:avLst/>
              <a:gdLst/>
              <a:ahLst/>
              <a:cxnLst/>
              <a:rect r="r" b="b" t="t" l="l"/>
              <a:pathLst>
                <a:path h="56769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72" r="0" b="-9437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554980" y="3634740"/>
            <a:ext cx="3154680" cy="1234440"/>
            <a:chOff x="0" y="0"/>
            <a:chExt cx="4206240" cy="1645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0" t="0" r="-24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554980" y="3634740"/>
            <a:ext cx="3154680" cy="1234440"/>
            <a:chOff x="0" y="0"/>
            <a:chExt cx="4206240" cy="1645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" t="0" r="-205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20624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>
                  <a:solidFill>
                    <a:srgbClr val="F2F2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 ... WHERE ... ORDER BY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554980" y="5006340"/>
            <a:ext cx="3154680" cy="411480"/>
            <a:chOff x="0" y="0"/>
            <a:chExt cx="420624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2" r="0" b="-9928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554980" y="4992053"/>
            <a:ext cx="3154680" cy="425768"/>
            <a:chOff x="0" y="0"/>
            <a:chExt cx="4206240" cy="56769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06240" cy="567690"/>
            </a:xfrm>
            <a:custGeom>
              <a:avLst/>
              <a:gdLst/>
              <a:ahLst/>
              <a:cxnLst/>
              <a:rect r="r" b="b" t="t" l="l"/>
              <a:pathLst>
                <a:path h="56769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72" r="0" b="-9437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Danger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554980" y="5417820"/>
            <a:ext cx="3154680" cy="1371600"/>
            <a:chOff x="0" y="0"/>
            <a:chExt cx="4206240" cy="182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06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23" t="0" r="-5822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554980" y="5396389"/>
            <a:ext cx="3154680" cy="1393031"/>
            <a:chOff x="0" y="0"/>
            <a:chExt cx="4206240" cy="18573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06240" cy="1857375"/>
            </a:xfrm>
            <a:custGeom>
              <a:avLst/>
              <a:gdLst/>
              <a:ahLst/>
              <a:cxnLst/>
              <a:rect r="r" b="b" t="t" l="l"/>
              <a:pathLst>
                <a:path h="1857375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57375"/>
                  </a:lnTo>
                  <a:lnTo>
                    <a:pt x="0" y="18573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55" t="0" r="-6655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2062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None — read-only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326880" y="2125980"/>
            <a:ext cx="3703320" cy="4937760"/>
            <a:chOff x="0" y="0"/>
            <a:chExt cx="4937760" cy="6583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377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4937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91456" y="0"/>
                  </a:lnTo>
                  <a:cubicBezTo>
                    <a:pt x="4872228" y="0"/>
                    <a:pt x="4937760" y="65532"/>
                    <a:pt x="4937760" y="146304"/>
                  </a:cubicBezTo>
                  <a:lnTo>
                    <a:pt x="4937760" y="6437376"/>
                  </a:lnTo>
                  <a:cubicBezTo>
                    <a:pt x="4937760" y="6518148"/>
                    <a:pt x="4872228" y="6583680"/>
                    <a:pt x="4791456" y="6583680"/>
                  </a:cubicBezTo>
                  <a:lnTo>
                    <a:pt x="146304" y="6583680"/>
                  </a:lnTo>
                  <a:cubicBezTo>
                    <a:pt x="65532" y="6583680"/>
                    <a:pt x="0" y="6518148"/>
                    <a:pt x="0" y="6437376"/>
                  </a:cubicBezTo>
                  <a:close/>
                </a:path>
              </a:pathLst>
            </a:custGeom>
            <a:solidFill>
              <a:srgbClr val="222C3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326880" y="2125980"/>
            <a:ext cx="3703320" cy="754380"/>
            <a:chOff x="0" y="0"/>
            <a:chExt cx="493776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91456" y="0"/>
                  </a:lnTo>
                  <a:cubicBezTo>
                    <a:pt x="4872228" y="0"/>
                    <a:pt x="4937760" y="65532"/>
                    <a:pt x="4937760" y="146304"/>
                  </a:cubicBezTo>
                  <a:lnTo>
                    <a:pt x="4937760" y="859536"/>
                  </a:lnTo>
                  <a:cubicBezTo>
                    <a:pt x="4937760" y="940308"/>
                    <a:pt x="4872228" y="1005840"/>
                    <a:pt x="479145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E0A800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326880" y="2125980"/>
            <a:ext cx="3703320" cy="754380"/>
            <a:chOff x="0" y="0"/>
            <a:chExt cx="4937760" cy="1005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87" r="0" b="-45587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326880" y="2118836"/>
            <a:ext cx="3703320" cy="761524"/>
            <a:chOff x="0" y="0"/>
            <a:chExt cx="4937760" cy="101536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937760" cy="1015365"/>
            </a:xfrm>
            <a:custGeom>
              <a:avLst/>
              <a:gdLst/>
              <a:ahLst/>
              <a:cxnLst/>
              <a:rect r="r" b="b" t="t" l="l"/>
              <a:pathLst>
                <a:path h="101536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56" r="0" b="-4475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49377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24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Update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01200" y="3223260"/>
            <a:ext cx="3154680" cy="411480"/>
            <a:chOff x="0" y="0"/>
            <a:chExt cx="420624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2" r="0" b="-9928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01200" y="3208972"/>
            <a:ext cx="3154680" cy="425768"/>
            <a:chOff x="0" y="0"/>
            <a:chExt cx="4206240" cy="56769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206240" cy="567690"/>
            </a:xfrm>
            <a:custGeom>
              <a:avLst/>
              <a:gdLst/>
              <a:ahLst/>
              <a:cxnLst/>
              <a:rect r="r" b="b" t="t" l="l"/>
              <a:pathLst>
                <a:path h="56769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72" r="0" b="-9437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 b="true">
                  <a:solidFill>
                    <a:srgbClr val="E0A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601200" y="3634740"/>
            <a:ext cx="3154680" cy="1234440"/>
            <a:chOff x="0" y="0"/>
            <a:chExt cx="4206240" cy="16459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0" t="0" r="-24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601200" y="3634740"/>
            <a:ext cx="3154680" cy="1234440"/>
            <a:chOff x="0" y="0"/>
            <a:chExt cx="4206240" cy="16459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" t="0" r="-205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420624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>
                  <a:solidFill>
                    <a:srgbClr val="F2F2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UPDATE ... SET ... WHERE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01200" y="5006340"/>
            <a:ext cx="3154680" cy="411480"/>
            <a:chOff x="0" y="0"/>
            <a:chExt cx="420624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2" r="0" b="-9928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601200" y="4992053"/>
            <a:ext cx="3154680" cy="425768"/>
            <a:chOff x="0" y="0"/>
            <a:chExt cx="4206240" cy="56769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206240" cy="567690"/>
            </a:xfrm>
            <a:custGeom>
              <a:avLst/>
              <a:gdLst/>
              <a:ahLst/>
              <a:cxnLst/>
              <a:rect r="r" b="b" t="t" l="l"/>
              <a:pathLst>
                <a:path h="56769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72" r="0" b="-9437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 b="true">
                  <a:solidFill>
                    <a:srgbClr val="E0A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Danger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01200" y="5417820"/>
            <a:ext cx="3154680" cy="1371600"/>
            <a:chOff x="0" y="0"/>
            <a:chExt cx="4206240" cy="1828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206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23" t="0" r="-5822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601200" y="5396389"/>
            <a:ext cx="3154680" cy="1393031"/>
            <a:chOff x="0" y="0"/>
            <a:chExt cx="4206240" cy="185737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206240" cy="1857375"/>
            </a:xfrm>
            <a:custGeom>
              <a:avLst/>
              <a:gdLst/>
              <a:ahLst/>
              <a:cxnLst/>
              <a:rect r="r" b="b" t="t" l="l"/>
              <a:pathLst>
                <a:path h="1857375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57375"/>
                  </a:lnTo>
                  <a:lnTo>
                    <a:pt x="0" y="18573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55" t="0" r="-6655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42062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WHERE = updates every row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373100" y="2125980"/>
            <a:ext cx="3703320" cy="4937760"/>
            <a:chOff x="0" y="0"/>
            <a:chExt cx="4937760" cy="65836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9377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4937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91456" y="0"/>
                  </a:lnTo>
                  <a:cubicBezTo>
                    <a:pt x="4872228" y="0"/>
                    <a:pt x="4937760" y="65532"/>
                    <a:pt x="4937760" y="146304"/>
                  </a:cubicBezTo>
                  <a:lnTo>
                    <a:pt x="4937760" y="6437376"/>
                  </a:lnTo>
                  <a:cubicBezTo>
                    <a:pt x="4937760" y="6518148"/>
                    <a:pt x="4872228" y="6583680"/>
                    <a:pt x="4791456" y="6583680"/>
                  </a:cubicBezTo>
                  <a:lnTo>
                    <a:pt x="146304" y="6583680"/>
                  </a:lnTo>
                  <a:cubicBezTo>
                    <a:pt x="65532" y="6583680"/>
                    <a:pt x="0" y="6518148"/>
                    <a:pt x="0" y="6437376"/>
                  </a:cubicBezTo>
                  <a:close/>
                </a:path>
              </a:pathLst>
            </a:custGeom>
            <a:solidFill>
              <a:srgbClr val="222C3B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373100" y="2125980"/>
            <a:ext cx="3703320" cy="754380"/>
            <a:chOff x="0" y="0"/>
            <a:chExt cx="4937760" cy="10058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91456" y="0"/>
                  </a:lnTo>
                  <a:cubicBezTo>
                    <a:pt x="4872228" y="0"/>
                    <a:pt x="4937760" y="65532"/>
                    <a:pt x="4937760" y="146304"/>
                  </a:cubicBezTo>
                  <a:lnTo>
                    <a:pt x="4937760" y="859536"/>
                  </a:lnTo>
                  <a:cubicBezTo>
                    <a:pt x="4937760" y="940308"/>
                    <a:pt x="4872228" y="1005840"/>
                    <a:pt x="479145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E85D4C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373100" y="2125980"/>
            <a:ext cx="3703320" cy="754380"/>
            <a:chOff x="0" y="0"/>
            <a:chExt cx="4937760" cy="10058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587" r="0" b="-45587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373100" y="2118836"/>
            <a:ext cx="3703320" cy="761524"/>
            <a:chOff x="0" y="0"/>
            <a:chExt cx="4937760" cy="101536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937760" cy="1015365"/>
            </a:xfrm>
            <a:custGeom>
              <a:avLst/>
              <a:gdLst/>
              <a:ahLst/>
              <a:cxnLst/>
              <a:rect r="r" b="b" t="t" l="l"/>
              <a:pathLst>
                <a:path h="101536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56" r="0" b="-4475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49377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24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Delete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647420" y="3223260"/>
            <a:ext cx="3154680" cy="411480"/>
            <a:chOff x="0" y="0"/>
            <a:chExt cx="4206240" cy="548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2" r="0" b="-9928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647420" y="3208972"/>
            <a:ext cx="3154680" cy="425768"/>
            <a:chOff x="0" y="0"/>
            <a:chExt cx="4206240" cy="56769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206240" cy="567690"/>
            </a:xfrm>
            <a:custGeom>
              <a:avLst/>
              <a:gdLst/>
              <a:ahLst/>
              <a:cxnLst/>
              <a:rect r="r" b="b" t="t" l="l"/>
              <a:pathLst>
                <a:path h="56769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72" r="0" b="-9437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 b="true">
                  <a:solidFill>
                    <a:srgbClr val="E85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647420" y="3634740"/>
            <a:ext cx="3154680" cy="1234440"/>
            <a:chOff x="0" y="0"/>
            <a:chExt cx="4206240" cy="16459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0" t="0" r="-240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647420" y="3634740"/>
            <a:ext cx="3154680" cy="1234440"/>
            <a:chOff x="0" y="0"/>
            <a:chExt cx="4206240" cy="16459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" t="0" r="-205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420624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>
                  <a:solidFill>
                    <a:srgbClr val="F2F2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DELETE FROM ... WHERE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647420" y="5006340"/>
            <a:ext cx="3154680" cy="411480"/>
            <a:chOff x="0" y="0"/>
            <a:chExt cx="420624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2" r="0" b="-9928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3647420" y="4992053"/>
            <a:ext cx="3154680" cy="425768"/>
            <a:chOff x="0" y="0"/>
            <a:chExt cx="4206240" cy="56769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206240" cy="567690"/>
            </a:xfrm>
            <a:custGeom>
              <a:avLst/>
              <a:gdLst/>
              <a:ahLst/>
              <a:cxnLst/>
              <a:rect r="r" b="b" t="t" l="l"/>
              <a:pathLst>
                <a:path h="56769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72" r="0" b="-94372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8"/>
                </a:lnSpc>
              </a:pPr>
              <a:r>
                <a:rPr lang="en-US" sz="1575" b="true">
                  <a:solidFill>
                    <a:srgbClr val="E85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Danger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3647420" y="5417820"/>
            <a:ext cx="3154680" cy="1371600"/>
            <a:chOff x="0" y="0"/>
            <a:chExt cx="4206240" cy="18288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206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23" t="0" r="-5822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3647420" y="5396389"/>
            <a:ext cx="3154680" cy="1393031"/>
            <a:chOff x="0" y="0"/>
            <a:chExt cx="4206240" cy="185737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206240" cy="1857375"/>
            </a:xfrm>
            <a:custGeom>
              <a:avLst/>
              <a:gdLst/>
              <a:ahLst/>
              <a:cxnLst/>
              <a:rect r="r" b="b" t="t" l="l"/>
              <a:pathLst>
                <a:path h="1857375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57375"/>
                  </a:lnTo>
                  <a:lnTo>
                    <a:pt x="0" y="18573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55" t="0" r="-6655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42062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WHERE = deletes every row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34440" y="7612380"/>
            <a:ext cx="15773400" cy="822960"/>
            <a:chOff x="0" y="0"/>
            <a:chExt cx="21031200" cy="109728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203" r="0" b="-323203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34440" y="7576661"/>
            <a:ext cx="15773400" cy="858679"/>
            <a:chOff x="0" y="0"/>
            <a:chExt cx="21031200" cy="114490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1031200" cy="1144905"/>
            </a:xfrm>
            <a:custGeom>
              <a:avLst/>
              <a:gdLst/>
              <a:ahLst/>
              <a:cxnLst/>
              <a:rect r="r" b="b" t="t" l="l"/>
              <a:pathLst>
                <a:path h="114490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928" r="0" b="-30792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2103120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02C3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Your Turn: Insert a customer → Update their city → Read only customers in your city → Delete the customer you added.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685800" y="9778365"/>
            <a:ext cx="10972800" cy="440055"/>
            <a:chOff x="0" y="0"/>
            <a:chExt cx="14630400" cy="58674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4630400" cy="586740"/>
            </a:xfrm>
            <a:custGeom>
              <a:avLst/>
              <a:gdLst/>
              <a:ahLst/>
              <a:cxnLst/>
              <a:rect r="r" b="b" t="t" l="l"/>
              <a:pathLst>
                <a:path h="5867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860" r="0" b="-43586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14630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for Data Scientists  ·  CRUD Operations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7282160" y="9806940"/>
            <a:ext cx="685800" cy="411480"/>
            <a:chOff x="0" y="0"/>
            <a:chExt cx="914400" cy="5486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7282160" y="9778365"/>
            <a:ext cx="685800" cy="440055"/>
            <a:chOff x="0" y="0"/>
            <a:chExt cx="914400" cy="58674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7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36578" y="-429377"/>
            <a:ext cx="13495839" cy="10121884"/>
            <a:chOff x="0" y="0"/>
            <a:chExt cx="17994452" cy="134958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94503" cy="13495782"/>
            </a:xfrm>
            <a:custGeom>
              <a:avLst/>
              <a:gdLst/>
              <a:ahLst/>
              <a:cxnLst/>
              <a:rect r="r" b="b" t="t" l="l"/>
              <a:pathLst>
                <a:path h="13495782" w="17994503">
                  <a:moveTo>
                    <a:pt x="0" y="0"/>
                  </a:moveTo>
                  <a:lnTo>
                    <a:pt x="17994503" y="0"/>
                  </a:lnTo>
                  <a:lnTo>
                    <a:pt x="17994503" y="13495782"/>
                  </a:lnTo>
                  <a:lnTo>
                    <a:pt x="0" y="13495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047" y="1667513"/>
            <a:ext cx="17262500" cy="6354756"/>
            <a:chOff x="0" y="0"/>
            <a:chExt cx="23016667" cy="8473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6718" cy="8473059"/>
            </a:xfrm>
            <a:custGeom>
              <a:avLst/>
              <a:gdLst/>
              <a:ahLst/>
              <a:cxnLst/>
              <a:rect r="r" b="b" t="t" l="l"/>
              <a:pathLst>
                <a:path h="8473059" w="23016718">
                  <a:moveTo>
                    <a:pt x="0" y="0"/>
                  </a:moveTo>
                  <a:lnTo>
                    <a:pt x="23016718" y="0"/>
                  </a:lnTo>
                  <a:lnTo>
                    <a:pt x="23016718" y="8473059"/>
                  </a:lnTo>
                  <a:lnTo>
                    <a:pt x="0" y="8473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CCCCC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9122" y="213198"/>
            <a:ext cx="12931931" cy="4930302"/>
            <a:chOff x="0" y="0"/>
            <a:chExt cx="17242574" cy="6573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42537" cy="6573774"/>
            </a:xfrm>
            <a:custGeom>
              <a:avLst/>
              <a:gdLst/>
              <a:ahLst/>
              <a:cxnLst/>
              <a:rect r="r" b="b" t="t" l="l"/>
              <a:pathLst>
                <a:path h="6573774" w="17242537">
                  <a:moveTo>
                    <a:pt x="0" y="0"/>
                  </a:moveTo>
                  <a:lnTo>
                    <a:pt x="17242537" y="0"/>
                  </a:lnTo>
                  <a:lnTo>
                    <a:pt x="17242537" y="6573774"/>
                  </a:lnTo>
                  <a:lnTo>
                    <a:pt x="0" y="6573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2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0825" y="5143500"/>
            <a:ext cx="13084226" cy="4865694"/>
            <a:chOff x="0" y="0"/>
            <a:chExt cx="17445634" cy="6487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5610" cy="6487541"/>
            </a:xfrm>
            <a:custGeom>
              <a:avLst/>
              <a:gdLst/>
              <a:ahLst/>
              <a:cxnLst/>
              <a:rect r="r" b="b" t="t" l="l"/>
              <a:pathLst>
                <a:path h="6487541" w="17445610">
                  <a:moveTo>
                    <a:pt x="0" y="0"/>
                  </a:moveTo>
                  <a:lnTo>
                    <a:pt x="17445610" y="0"/>
                  </a:lnTo>
                  <a:lnTo>
                    <a:pt x="17445610" y="6487541"/>
                  </a:lnTo>
                  <a:lnTo>
                    <a:pt x="0" y="6487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66031" y="7379789"/>
            <a:ext cx="8199730" cy="3112437"/>
            <a:chOff x="0" y="0"/>
            <a:chExt cx="10932973" cy="41499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32922" cy="4149979"/>
            </a:xfrm>
            <a:custGeom>
              <a:avLst/>
              <a:gdLst/>
              <a:ahLst/>
              <a:cxnLst/>
              <a:rect r="r" b="b" t="t" l="l"/>
              <a:pathLst>
                <a:path h="4149979" w="10932922">
                  <a:moveTo>
                    <a:pt x="0" y="0"/>
                  </a:moveTo>
                  <a:lnTo>
                    <a:pt x="10932922" y="0"/>
                  </a:lnTo>
                  <a:lnTo>
                    <a:pt x="10932922" y="4149979"/>
                  </a:lnTo>
                  <a:lnTo>
                    <a:pt x="0" y="4149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8" name="TextBox 7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910" y="0"/>
            <a:ext cx="13084226" cy="4939294"/>
            <a:chOff x="0" y="0"/>
            <a:chExt cx="17445634" cy="6585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45610" cy="6585712"/>
            </a:xfrm>
            <a:custGeom>
              <a:avLst/>
              <a:gdLst/>
              <a:ahLst/>
              <a:cxnLst/>
              <a:rect r="r" b="b" t="t" l="l"/>
              <a:pathLst>
                <a:path h="6585712" w="17445610">
                  <a:moveTo>
                    <a:pt x="0" y="0"/>
                  </a:moveTo>
                  <a:lnTo>
                    <a:pt x="17445610" y="0"/>
                  </a:lnTo>
                  <a:lnTo>
                    <a:pt x="17445610" y="6585712"/>
                  </a:lnTo>
                  <a:lnTo>
                    <a:pt x="0" y="6585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9" r="0" b="-9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910" y="5143500"/>
            <a:ext cx="11995985" cy="4446013"/>
            <a:chOff x="0" y="0"/>
            <a:chExt cx="15994647" cy="59280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94635" cy="5927979"/>
            </a:xfrm>
            <a:custGeom>
              <a:avLst/>
              <a:gdLst/>
              <a:ahLst/>
              <a:cxnLst/>
              <a:rect r="r" b="b" t="t" l="l"/>
              <a:pathLst>
                <a:path h="5927979" w="15994635">
                  <a:moveTo>
                    <a:pt x="0" y="0"/>
                  </a:moveTo>
                  <a:lnTo>
                    <a:pt x="15994635" y="0"/>
                  </a:lnTo>
                  <a:lnTo>
                    <a:pt x="15994635" y="5927979"/>
                  </a:lnTo>
                  <a:lnTo>
                    <a:pt x="0" y="5927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98470" y="7169239"/>
            <a:ext cx="7304599" cy="3117761"/>
            <a:chOff x="0" y="0"/>
            <a:chExt cx="9739465" cy="41570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39503" cy="4156964"/>
            </a:xfrm>
            <a:custGeom>
              <a:avLst/>
              <a:gdLst/>
              <a:ahLst/>
              <a:cxnLst/>
              <a:rect r="r" b="b" t="t" l="l"/>
              <a:pathLst>
                <a:path h="4156964" w="9739503">
                  <a:moveTo>
                    <a:pt x="0" y="0"/>
                  </a:moveTo>
                  <a:lnTo>
                    <a:pt x="9739503" y="0"/>
                  </a:lnTo>
                  <a:lnTo>
                    <a:pt x="9739503" y="4156964"/>
                  </a:lnTo>
                  <a:lnTo>
                    <a:pt x="0" y="4156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0" r="0" b="-5861"/>
              </a:stretch>
            </a:blipFill>
          </p:spPr>
        </p:sp>
      </p:grpSp>
      <p:sp>
        <p:nvSpPr>
          <p:cNvPr id="8" name="TextBox 7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796740" cy="3780606"/>
            <a:chOff x="0" y="0"/>
            <a:chExt cx="14395653" cy="5040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95704" cy="5040757"/>
            </a:xfrm>
            <a:custGeom>
              <a:avLst/>
              <a:gdLst/>
              <a:ahLst/>
              <a:cxnLst/>
              <a:rect r="r" b="b" t="t" l="l"/>
              <a:pathLst>
                <a:path h="5040757" w="14395704">
                  <a:moveTo>
                    <a:pt x="0" y="0"/>
                  </a:moveTo>
                  <a:lnTo>
                    <a:pt x="14395704" y="0"/>
                  </a:lnTo>
                  <a:lnTo>
                    <a:pt x="14395704" y="5040757"/>
                  </a:lnTo>
                  <a:lnTo>
                    <a:pt x="0" y="5040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" t="0" r="-7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02809" y="5498992"/>
            <a:ext cx="11417551" cy="4267390"/>
            <a:chOff x="0" y="0"/>
            <a:chExt cx="15223401" cy="56898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23362" cy="5689854"/>
            </a:xfrm>
            <a:custGeom>
              <a:avLst/>
              <a:gdLst/>
              <a:ahLst/>
              <a:cxnLst/>
              <a:rect r="r" b="b" t="t" l="l"/>
              <a:pathLst>
                <a:path h="5689854" w="15223362">
                  <a:moveTo>
                    <a:pt x="0" y="0"/>
                  </a:moveTo>
                  <a:lnTo>
                    <a:pt x="15223362" y="0"/>
                  </a:lnTo>
                  <a:lnTo>
                    <a:pt x="15223362" y="5689854"/>
                  </a:lnTo>
                  <a:lnTo>
                    <a:pt x="0" y="5689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" r="0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13874" y="2597658"/>
            <a:ext cx="7491260" cy="3071508"/>
            <a:chOff x="0" y="0"/>
            <a:chExt cx="9988347" cy="4095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88296" cy="4095369"/>
            </a:xfrm>
            <a:custGeom>
              <a:avLst/>
              <a:gdLst/>
              <a:ahLst/>
              <a:cxnLst/>
              <a:rect r="r" b="b" t="t" l="l"/>
              <a:pathLst>
                <a:path h="4095369" w="9988296">
                  <a:moveTo>
                    <a:pt x="0" y="0"/>
                  </a:moveTo>
                  <a:lnTo>
                    <a:pt x="9988296" y="0"/>
                  </a:lnTo>
                  <a:lnTo>
                    <a:pt x="9988296" y="4095369"/>
                  </a:lnTo>
                  <a:lnTo>
                    <a:pt x="0" y="4095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id="8" name="TextBox 7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59" y="0"/>
            <a:ext cx="13013179" cy="5567496"/>
            <a:chOff x="0" y="0"/>
            <a:chExt cx="17350905" cy="74233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50867" cy="7423277"/>
            </a:xfrm>
            <a:custGeom>
              <a:avLst/>
              <a:gdLst/>
              <a:ahLst/>
              <a:cxnLst/>
              <a:rect r="r" b="b" t="t" l="l"/>
              <a:pathLst>
                <a:path h="7423277" w="17350867">
                  <a:moveTo>
                    <a:pt x="0" y="0"/>
                  </a:moveTo>
                  <a:lnTo>
                    <a:pt x="17350867" y="0"/>
                  </a:lnTo>
                  <a:lnTo>
                    <a:pt x="17350867" y="7423277"/>
                  </a:lnTo>
                  <a:lnTo>
                    <a:pt x="0" y="742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29766" y="3949684"/>
            <a:ext cx="7685170" cy="5684815"/>
            <a:chOff x="0" y="0"/>
            <a:chExt cx="10246893" cy="75797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6868" cy="7579741"/>
            </a:xfrm>
            <a:custGeom>
              <a:avLst/>
              <a:gdLst/>
              <a:ahLst/>
              <a:cxnLst/>
              <a:rect r="r" b="b" t="t" l="l"/>
              <a:pathLst>
                <a:path h="7579741" w="10246868">
                  <a:moveTo>
                    <a:pt x="0" y="0"/>
                  </a:moveTo>
                  <a:lnTo>
                    <a:pt x="10246868" y="0"/>
                  </a:lnTo>
                  <a:lnTo>
                    <a:pt x="10246868" y="7579741"/>
                  </a:lnTo>
                  <a:lnTo>
                    <a:pt x="0" y="7579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5" b="0"/>
              </a:stretch>
            </a:blipFill>
          </p:spPr>
        </p:sp>
      </p:grpSp>
      <p:sp>
        <p:nvSpPr>
          <p:cNvPr id="6" name="TextBox 5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2751" y="433854"/>
            <a:ext cx="18251405" cy="8196663"/>
            <a:chOff x="0" y="0"/>
            <a:chExt cx="24335207" cy="109288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232" cy="10928858"/>
            </a:xfrm>
            <a:custGeom>
              <a:avLst/>
              <a:gdLst/>
              <a:ahLst/>
              <a:cxnLst/>
              <a:rect r="r" b="b" t="t" l="l"/>
              <a:pathLst>
                <a:path h="10928858" w="24335232">
                  <a:moveTo>
                    <a:pt x="0" y="0"/>
                  </a:moveTo>
                  <a:lnTo>
                    <a:pt x="24335232" y="0"/>
                  </a:lnTo>
                  <a:lnTo>
                    <a:pt x="24335232" y="10928858"/>
                  </a:lnTo>
                  <a:lnTo>
                    <a:pt x="0" y="1092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CCCCC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889" y="317554"/>
            <a:ext cx="16280854" cy="8283054"/>
            <a:chOff x="0" y="0"/>
            <a:chExt cx="21707805" cy="11044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07856" cy="11044047"/>
            </a:xfrm>
            <a:custGeom>
              <a:avLst/>
              <a:gdLst/>
              <a:ahLst/>
              <a:cxnLst/>
              <a:rect r="r" b="b" t="t" l="l"/>
              <a:pathLst>
                <a:path h="11044047" w="21707856">
                  <a:moveTo>
                    <a:pt x="0" y="0"/>
                  </a:moveTo>
                  <a:lnTo>
                    <a:pt x="21707856" y="0"/>
                  </a:lnTo>
                  <a:lnTo>
                    <a:pt x="21707856" y="11044047"/>
                  </a:lnTo>
                  <a:lnTo>
                    <a:pt x="0" y="11044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366" y="758904"/>
            <a:ext cx="17763268" cy="7633992"/>
            <a:chOff x="0" y="0"/>
            <a:chExt cx="23684357" cy="101786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4357" cy="10178669"/>
            </a:xfrm>
            <a:custGeom>
              <a:avLst/>
              <a:gdLst/>
              <a:ahLst/>
              <a:cxnLst/>
              <a:rect r="r" b="b" t="t" l="l"/>
              <a:pathLst>
                <a:path h="10178669" w="23684357">
                  <a:moveTo>
                    <a:pt x="0" y="0"/>
                  </a:moveTo>
                  <a:lnTo>
                    <a:pt x="23684357" y="0"/>
                  </a:lnTo>
                  <a:lnTo>
                    <a:pt x="23684357" y="10178669"/>
                  </a:lnTo>
                  <a:lnTo>
                    <a:pt x="0" y="10178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152" y="358026"/>
            <a:ext cx="17449657" cy="8214331"/>
            <a:chOff x="0" y="0"/>
            <a:chExt cx="23266210" cy="109524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66146" cy="10952480"/>
            </a:xfrm>
            <a:custGeom>
              <a:avLst/>
              <a:gdLst/>
              <a:ahLst/>
              <a:cxnLst/>
              <a:rect r="r" b="b" t="t" l="l"/>
              <a:pathLst>
                <a:path h="10952480" w="23266146">
                  <a:moveTo>
                    <a:pt x="0" y="0"/>
                  </a:moveTo>
                  <a:lnTo>
                    <a:pt x="23266146" y="0"/>
                  </a:lnTo>
                  <a:lnTo>
                    <a:pt x="23266146" y="10952480"/>
                  </a:lnTo>
                  <a:lnTo>
                    <a:pt x="0" y="10952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0" y="9875520"/>
            <a:ext cx="18288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Calibri"/>
              </a:rPr>
              <a:t>Ananda Rimal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DAHRaVoQ8xU</dc:identifier>
  <dcterms:modified xsi:type="dcterms:W3CDTF">2011-08-01T06:04:30Z</dcterms:modified>
  <cp:revision>1</cp:revision>
  <dc:title>Untitled design.pptx</dc:title>
</cp:coreProperties>
</file>